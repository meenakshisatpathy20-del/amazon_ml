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850" b="1">
                <a:solidFill>
                  <a:srgbClr val="0B2E4F"/>
                </a:solidFill>
              </a:rPr>
              <a:t>95th percentile ping delay during a download (ms)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95th percentile ping delay (ms)</c:v>
                </c:pt>
              </c:strCache>
            </c:strRef>
          </c:tx>
          <c:dPt>
            <c:idx val="0"/>
            <c:spPr>
              <a:solidFill>
                <a:srgbClr val="D93A2B"/>
              </a:solidFill>
            </c:spPr>
          </c:dPt>
          <c:dPt>
            <c:idx val="1"/>
            <c:spPr>
              <a:solidFill>
                <a:srgbClr val="1E8E3E"/>
              </a:solidFill>
            </c:spPr>
          </c:dPt>
          <c:cat>
            <c:strRef>
              <c:f>Sheet1!$A$2:$A$3</c:f>
              <c:strCache>
                <c:ptCount val="2"/>
                <c:pt idx="0">
                  <c:v>No QoS (FIFO)</c:v>
                </c:pt>
                <c:pt idx="1">
                  <c:v>Class shaping (HTB)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138.0</c:v>
                </c:pt>
                <c:pt idx="1">
                  <c:v>0.07</c:v>
                </c:pt>
              </c:numCache>
            </c:numRef>
          </c:val>
        </c:ser>
        <c:dLbls>
          <c:numFmt formatCode="#,##0.0#" sourceLinked="0"/>
          <c:txPr>
            <a:bodyPr/>
            <a:lstStyle/>
            <a:p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 (about 1 minute): In a home, calls, games, TVs and downloads share one link. The real problem is queueing delay, not bandwidth. We build on CAKE in Linux rather than replacing it. On top of it we add a rate loop that follows the link speed every second, a rule-based policy loop that goes through a safety check and can roll back, and a way for the user to protect a call for a set time. ML is used in three places: the flow classifier, a link model that screens policy changes, and auto-protect for calls. Each one is compared with the rule-based version and dropped if it does not help. Our early test: during a download, ping delay was 138 ms with no QoS and under 0.1 ms with class shaping, with the same download speed. In Round 2 we compare against CAKE and its autorate tools, not only against no QoS.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30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2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1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8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3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4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2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6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54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58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34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0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58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97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27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87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31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603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620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454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7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0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E0110-3D53-56A3-B428-F22C9DFF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273218-B2DB-AB44-5DFE-A9CB98F2A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pic>
        <p:nvPicPr>
          <p:cNvPr id="14" name="Content Placeholder 6">
            <a:extLst>
              <a:ext uri="{FF2B5EF4-FFF2-40B4-BE49-F238E27FC236}">
                <a16:creationId xmlns:a16="http://schemas.microsoft.com/office/drawing/2014/main" id="{DAC1E459-A0ED-D730-5E34-2662D85A74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4504438" y="723899"/>
            <a:ext cx="3183124" cy="102870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1E1DA9C-07E8-A7EE-F0F0-74A842D8366D}"/>
              </a:ext>
            </a:extLst>
          </p:cNvPr>
          <p:cNvSpPr txBox="1">
            <a:spLocks/>
          </p:cNvSpPr>
          <p:nvPr/>
        </p:nvSpPr>
        <p:spPr>
          <a:xfrm>
            <a:off x="4623106" y="1917655"/>
            <a:ext cx="2945788" cy="606024"/>
          </a:xfrm>
          <a:prstGeom prst="rect">
            <a:avLst/>
          </a:prstGeom>
        </p:spPr>
        <p:txBody>
          <a:bodyPr vert="horz" lIns="91440" tIns="45720" rIns="91440" bIns="45720" rtlCol="0" anchor="b" wrap="none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Study No. 3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47F9FFC-5CA4-1C83-5E38-8DBBC6652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0112" y="2912065"/>
            <a:ext cx="6231775" cy="760059"/>
          </a:xfrm>
        </p:spPr>
        <p:txBody>
          <a:bodyPr>
            <a:no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Details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C4B1A3C-0B9F-3BDB-8C06-470AADE51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627" y="3652835"/>
            <a:ext cx="6231775" cy="1128427"/>
          </a:xfrm>
        </p:spPr>
        <p:txBody>
          <a:bodyPr/>
          <a:lstStyle/>
          <a:p>
            <a:r>
              <a:rPr b="1"/>
              <a:t>Team MM</a:t>
            </a:r>
          </a:p>
          <a:p>
            <a:r>
              <a:t>Manas Girdhar (Team Leader)</a:t>
            </a:r>
          </a:p>
          <a:p>
            <a:r>
              <a:t>Meenakshi Satpathy</a:t>
            </a:r>
          </a:p>
          <a:p>
            <a:r>
              <a:t>Birla Institute of Technology, Mesra</a:t>
            </a:r>
          </a:p>
        </p:txBody>
      </p:sp>
    </p:spTree>
    <p:extLst>
      <p:ext uri="{BB962C8B-B14F-4D97-AF65-F5344CB8AC3E}">
        <p14:creationId xmlns:p14="http://schemas.microsoft.com/office/powerpoint/2010/main" val="4002182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7714" y="5813784"/>
            <a:ext cx="63550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8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7EA7B0-D290-F374-CB83-A8971125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14" y="898058"/>
            <a:ext cx="10515600" cy="1325563"/>
          </a:xfrm>
        </p:spPr>
        <p:txBody>
          <a:bodyPr/>
          <a:lstStyle/>
          <a:p>
            <a:r>
              <a:t>PulseQoS: Adaptive Home QoS</a:t>
            </a:r>
          </a:p>
          <a:p>
            <a:r>
              <a:rPr sz="1400"/>
              <a:t>The call never notices the download. An adaptive QoS controller built on Linux tc and CAKE, with no payload inspection.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F1BD9-4BA1-4C00-F20D-6F87E11B1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714" y="2358558"/>
            <a:ext cx="10515600" cy="4351338"/>
          </a:xfrm>
        </p:spPr>
        <p:txBody>
          <a:bodyPr wrap="square" anchor="b" lIns="73152" rIns="4233672" tIns="27432" bIns="54864"/>
          <a:lstStyle/>
          <a:p>
            <a:pPr algn="l" marL="0" indent="0">
              <a:buNone/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08CC8"/>
                </a:solidFill>
              </a:rPr>
              <a:t>Key design decisions</a:t>
            </a:r>
            <a:endParaRPr lang="en-IN" dirty="0"/>
          </a:p>
          <a:p>
            <a:pPr algn="l" marL="0" indent="0">
              <a:buNone/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B2E4F"/>
                </a:solidFill>
              </a:rPr>
              <a:t>Tins: </a:t>
            </a:r>
            <a:r>
              <a:rPr sz="850" b="0">
                <a:solidFill>
                  <a:srgbClr val="333333"/>
                </a:solidFill>
              </a:rPr>
              <a:t>call audio and games in Voice, call video in Video (Voice is capped at 25% in diffserv4).</a:t>
            </a:r>
          </a:p>
          <a:p>
            <a:pPr algn="l" marL="0" indent="0">
              <a:buNone/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B2E4F"/>
                </a:solidFill>
              </a:rPr>
              <a:t>Trust: </a:t>
            </a:r>
            <a:r>
              <a:rPr sz="850" b="0">
                <a:solidFill>
                  <a:srgbClr val="333333"/>
                </a:solidFill>
              </a:rPr>
              <a:t>DSCP from the Internet is cleared, so outside traffic cannot claim priority.</a:t>
            </a:r>
          </a:p>
          <a:p>
            <a:pPr algn="l" marL="0" indent="0">
              <a:buNone/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B2E4F"/>
                </a:solidFill>
              </a:rPr>
              <a:t>Two loops: </a:t>
            </a:r>
            <a:r>
              <a:rPr sz="850" b="0">
                <a:solidFill>
                  <a:srgbClr val="333333"/>
                </a:solidFill>
              </a:rPr>
              <a:t>a speed drop is handled within a second; policy changes pass a safety check first.</a:t>
            </a:r>
          </a:p>
          <a:p>
            <a:pPr algn="l" marL="0" indent="0">
              <a:buNone/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B2E4F"/>
                </a:solidFill>
              </a:rPr>
              <a:t>Privacy: </a:t>
            </a:r>
            <a:r>
              <a:rPr sz="850" b="0">
                <a:solidFill>
                  <a:srgbClr val="333333"/>
                </a:solidFill>
              </a:rPr>
              <a:t>no payload or domain logging; the intent API is LAN-only and needs a token.</a:t>
            </a:r>
          </a:p>
        </p:txBody>
      </p:sp>
      <p:pic>
        <p:nvPicPr>
          <p:cNvPr id="5" name="Picture 2" descr="od-banner">
            <a:extLst>
              <a:ext uri="{FF2B5EF4-FFF2-40B4-BE49-F238E27FC236}">
                <a16:creationId xmlns:a16="http://schemas.microsoft.com/office/drawing/2014/main" id="{F4826D9E-742D-0A39-8864-4C7889B0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1341" y="89039"/>
            <a:ext cx="803547" cy="56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7886EE-DB1A-217A-4691-1FAE55869F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0" y="14083"/>
            <a:ext cx="2361332" cy="763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17714" y="2358558"/>
            <a:ext cx="6355080" cy="384048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7714" y="2358558"/>
            <a:ext cx="658368" cy="384048"/>
          </a:xfrm>
          <a:prstGeom prst="rect">
            <a:avLst/>
          </a:prstGeom>
          <a:solidFill>
            <a:srgbClr val="008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700" b="1">
                <a:solidFill>
                  <a:srgbClr val="FFFFFF"/>
                </a:solidFill>
              </a:rPr>
              <a:t>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7714" y="2970904"/>
            <a:ext cx="6355080" cy="841248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7714" y="2970904"/>
            <a:ext cx="658368" cy="841248"/>
          </a:xfrm>
          <a:prstGeom prst="rect">
            <a:avLst/>
          </a:prstGeom>
          <a:solidFill>
            <a:srgbClr val="008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700" b="1">
                <a:solidFill>
                  <a:srgbClr val="FFFFFF"/>
                </a:solidFill>
              </a:rPr>
              <a:t>ANALYTICS</a:t>
            </a:r>
          </a:p>
          <a:p>
            <a:pPr algn="ctr"/>
            <a:r>
              <a:rPr sz="700" b="1">
                <a:solidFill>
                  <a:srgbClr val="FFFFFF"/>
                </a:solidFill>
              </a:rPr>
              <a:t>&amp;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7714" y="4040451"/>
            <a:ext cx="6355080" cy="292608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7714" y="4040451"/>
            <a:ext cx="658368" cy="292608"/>
          </a:xfrm>
          <a:prstGeom prst="rect">
            <a:avLst/>
          </a:prstGeom>
          <a:solidFill>
            <a:srgbClr val="008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70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7714" y="4561357"/>
            <a:ext cx="6355080" cy="566928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7714" y="4561357"/>
            <a:ext cx="658368" cy="566928"/>
          </a:xfrm>
          <a:prstGeom prst="rect">
            <a:avLst/>
          </a:prstGeom>
          <a:solidFill>
            <a:srgbClr val="008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700" b="1">
                <a:solidFill>
                  <a:srgbClr val="FFFFFF"/>
                </a:solidFill>
              </a:rPr>
              <a:t>EDGE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7714" y="5356584"/>
            <a:ext cx="6355080" cy="384048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17714" y="5356584"/>
            <a:ext cx="658368" cy="384048"/>
          </a:xfrm>
          <a:prstGeom prst="rect">
            <a:avLst/>
          </a:prstGeom>
          <a:solidFill>
            <a:srgbClr val="008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700" b="1">
                <a:solidFill>
                  <a:srgbClr val="FFFFFF"/>
                </a:solidFill>
              </a:rPr>
              <a:t>DEVICE &amp;</a:t>
            </a:r>
          </a:p>
          <a:p>
            <a:pPr algn="ctr"/>
            <a:r>
              <a:rPr sz="700" b="1">
                <a:solidFill>
                  <a:srgbClr val="FFFFFF"/>
                </a:solidFill>
              </a:rPr>
              <a:t>NETWORK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49234" y="2404278"/>
            <a:ext cx="2747772" cy="29260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8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0B2E4F"/>
                </a:solidFill>
              </a:rPr>
              <a:t>Focus Mode app / REST API</a:t>
            </a:r>
          </a:p>
          <a:p>
            <a:pPr algn="ctr"/>
            <a:r>
              <a:rPr sz="750" b="0">
                <a:solidFill>
                  <a:srgbClr val="333333"/>
                </a:solidFill>
              </a:rPr>
              <a:t>protect a call for N minutes; auto-protect has undo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88446" y="2404278"/>
            <a:ext cx="2747772" cy="29260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8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0B2E4F"/>
                </a:solidFill>
              </a:rPr>
              <a:t>Dashboard</a:t>
            </a:r>
          </a:p>
          <a:p>
            <a:pPr algn="ctr"/>
            <a:r>
              <a:rPr sz="750" b="0">
                <a:solidFill>
                  <a:srgbClr val="333333"/>
                </a:solidFill>
              </a:rPr>
              <a:t>latency, jitter, loss, queue depth, fairness, reason per change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49234" y="3016624"/>
            <a:ext cx="1328166" cy="749808"/>
          </a:xfrm>
          <a:prstGeom prst="roundRect">
            <a:avLst>
              <a:gd name="adj" fmla="val 10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750" b="1">
                <a:solidFill>
                  <a:srgbClr val="F5B400"/>
                </a:solidFill>
              </a:rPr>
              <a:t>Rate loop (1 s)</a:t>
            </a:r>
          </a:p>
          <a:p>
            <a:pPr algn="ctr"/>
            <a:r>
              <a:rPr sz="700" b="0">
                <a:solidFill>
                  <a:srgbClr val="FFFFFF"/>
                </a:solidFill>
              </a:rPr>
              <a:t>estimates capacity from one-way delay; lowers shaper rate at once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68840" y="3016624"/>
            <a:ext cx="1328166" cy="749808"/>
          </a:xfrm>
          <a:prstGeom prst="roundRect">
            <a:avLst>
              <a:gd name="adj" fmla="val 10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750" b="1">
                <a:solidFill>
                  <a:srgbClr val="F5B400"/>
                </a:solidFill>
              </a:rPr>
              <a:t>Policy loop (10-30 s)</a:t>
            </a:r>
          </a:p>
          <a:p>
            <a:pPr algn="ctr"/>
            <a:r>
              <a:rPr sz="700" b="0">
                <a:solidFill>
                  <a:srgbClr val="FFFFFF"/>
                </a:solidFill>
              </a:rPr>
              <a:t>rule-based, fixed set of actions, hysteresis and hold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88446" y="3016624"/>
            <a:ext cx="1328166" cy="749808"/>
          </a:xfrm>
          <a:prstGeom prst="roundRect">
            <a:avLst>
              <a:gd name="adj" fmla="val 1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750" b="1">
                <a:solidFill>
                  <a:srgbClr val="FFFFFF"/>
                </a:solidFill>
              </a:rPr>
              <a:t>Link model (ML)</a:t>
            </a:r>
          </a:p>
          <a:p>
            <a:pPr algn="ctr"/>
            <a:r>
              <a:rPr sz="700" b="0">
                <a:solidFill>
                  <a:srgbClr val="FFFFFF"/>
                </a:solidFill>
              </a:rPr>
              <a:t>predicts call delay per action; filters out risky ones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08052" y="3016624"/>
            <a:ext cx="1328166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8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750" b="1">
                <a:solidFill>
                  <a:srgbClr val="0B2E4F"/>
                </a:solidFill>
              </a:rPr>
              <a:t>Safety check</a:t>
            </a:r>
          </a:p>
          <a:p>
            <a:pPr algn="ctr"/>
            <a:r>
              <a:rPr sz="700" b="0">
                <a:solidFill>
                  <a:srgbClr val="333333"/>
                </a:solidFill>
              </a:rPr>
              <a:t>short live trial, keep or roll back; watchdog falls back to CAKE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077400" y="3391528"/>
            <a:ext cx="91440" cy="0"/>
          </a:xfrm>
          <a:prstGeom prst="line">
            <a:avLst/>
          </a:prstGeom>
          <a:ln w="15875">
            <a:solidFill>
              <a:srgbClr val="0B2E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97006" y="3391528"/>
            <a:ext cx="91440" cy="0"/>
          </a:xfrm>
          <a:prstGeom prst="line">
            <a:avLst/>
          </a:prstGeom>
          <a:ln w="15875">
            <a:solidFill>
              <a:srgbClr val="0B2E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916612" y="3391528"/>
            <a:ext cx="91440" cy="0"/>
          </a:xfrm>
          <a:prstGeom prst="line">
            <a:avLst/>
          </a:prstGeom>
          <a:ln w="15875">
            <a:solidFill>
              <a:srgbClr val="0B2E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749234" y="4077027"/>
            <a:ext cx="5586984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8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0B2E4F"/>
                </a:solidFill>
              </a:rPr>
              <a:t>Flow table (conntrack), telemetry, versioned policies, audit log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49234" y="4607077"/>
            <a:ext cx="1801368" cy="475488"/>
          </a:xfrm>
          <a:prstGeom prst="roundRect">
            <a:avLst>
              <a:gd name="adj" fmla="val 10000"/>
            </a:avLst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750" b="1">
                <a:solidFill>
                  <a:srgbClr val="FFFFFF"/>
                </a:solidFill>
              </a:rPr>
              <a:t>Flow classifier (ML)</a:t>
            </a:r>
          </a:p>
          <a:p>
            <a:pPr algn="ctr"/>
            <a:r>
              <a:rPr sz="700" b="0">
                <a:solidFill>
                  <a:srgbClr val="FFFFFF"/>
                </a:solidFill>
              </a:rPr>
              <a:t>packet sizes and timing only; unsure flows stay best effort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42042" y="4607077"/>
            <a:ext cx="1801368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8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750" b="1">
                <a:solidFill>
                  <a:srgbClr val="0B2E4F"/>
                </a:solidFill>
              </a:rPr>
              <a:t>Flow marking</a:t>
            </a:r>
          </a:p>
          <a:p>
            <a:pPr algn="ctr"/>
            <a:r>
              <a:rPr sz="700" b="0">
                <a:solidFill>
                  <a:srgbClr val="333333"/>
                </a:solidFill>
              </a:rPr>
              <a:t>class kept in conntrack mark, restored with ctinfo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34850" y="4607077"/>
            <a:ext cx="1801368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8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750" b="1">
                <a:solidFill>
                  <a:srgbClr val="0B2E4F"/>
                </a:solidFill>
              </a:rPr>
              <a:t>Linux tc</a:t>
            </a:r>
          </a:p>
          <a:p>
            <a:pPr algn="ctr"/>
            <a:r>
              <a:rPr sz="700" b="0">
                <a:solidFill>
                  <a:srgbClr val="333333"/>
                </a:solidFill>
              </a:rPr>
              <a:t>CAKE on WAN and IFB; HTB variant for hard floors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550602" y="4844821"/>
            <a:ext cx="91440" cy="0"/>
          </a:xfrm>
          <a:prstGeom prst="line">
            <a:avLst/>
          </a:prstGeom>
          <a:ln w="15875">
            <a:solidFill>
              <a:srgbClr val="0B2E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443410" y="4844821"/>
            <a:ext cx="91440" cy="0"/>
          </a:xfrm>
          <a:prstGeom prst="line">
            <a:avLst/>
          </a:prstGeom>
          <a:ln w="15875">
            <a:solidFill>
              <a:srgbClr val="0B2E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749234" y="5402304"/>
            <a:ext cx="2747772" cy="29260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8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0B2E4F"/>
                </a:solidFill>
              </a:rPr>
              <a:t>Home devices (emulated)</a:t>
            </a:r>
          </a:p>
          <a:p>
            <a:pPr algn="ctr"/>
            <a:r>
              <a:rPr sz="750" b="0">
                <a:solidFill>
                  <a:srgbClr val="333333"/>
                </a:solidFill>
              </a:rPr>
              <a:t>laptop on a call, console, 3 TVs, a large download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88446" y="5402304"/>
            <a:ext cx="2747772" cy="29260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8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>
                <a:solidFill>
                  <a:srgbClr val="0B2E4F"/>
                </a:solidFill>
              </a:rPr>
              <a:t>WAN link (emulated)</a:t>
            </a:r>
          </a:p>
          <a:p>
            <a:pPr algn="ctr"/>
            <a:r>
              <a:rPr sz="750" b="0">
                <a:solidFill>
                  <a:srgbClr val="333333"/>
                </a:solidFill>
              </a:rPr>
              <a:t>netem + token bucket, 100 to 20 Mbps, IPv4 and IPv6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123120" y="2696886"/>
            <a:ext cx="0" cy="319738"/>
          </a:xfrm>
          <a:prstGeom prst="line">
            <a:avLst/>
          </a:prstGeom>
          <a:ln w="15875">
            <a:solidFill>
              <a:srgbClr val="0B2E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672135" y="3766432"/>
            <a:ext cx="0" cy="840645"/>
          </a:xfrm>
          <a:prstGeom prst="line">
            <a:avLst/>
          </a:prstGeom>
          <a:ln w="15875">
            <a:solidFill>
              <a:srgbClr val="0B2E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649918" y="5082565"/>
            <a:ext cx="0" cy="319739"/>
          </a:xfrm>
          <a:prstGeom prst="line">
            <a:avLst/>
          </a:prstGeom>
          <a:ln w="15875">
            <a:solidFill>
              <a:srgbClr val="0B2E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35534" y="5082565"/>
            <a:ext cx="0" cy="319739"/>
          </a:xfrm>
          <a:prstGeom prst="line">
            <a:avLst/>
          </a:prstGeom>
          <a:ln w="15875">
            <a:solidFill>
              <a:srgbClr val="0B2E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509954" y="2358558"/>
            <a:ext cx="4023360" cy="25603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FFFFFF"/>
                </a:solidFill>
              </a:rPr>
              <a:t>Where we use ML, and how we check it helps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09954" y="2614590"/>
            <a:ext cx="402336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spcAft>
                <a:spcPts val="400"/>
              </a:spcAft>
            </a:pPr>
            <a:r>
              <a:rPr sz="880" b="1">
                <a:solidFill>
                  <a:srgbClr val="2B6CB0"/>
                </a:solidFill>
              </a:rPr>
              <a:t>1. Flow classifier: </a:t>
            </a:r>
            <a:r>
              <a:rPr sz="880" b="0">
                <a:solidFill>
                  <a:srgbClr val="333333"/>
                </a:solidFill>
              </a:rPr>
              <a:t>LightGBM with conformal prediction. A flow is prioritised only when the model is confident, keeping wrong boosts under a target rate (say 1%). </a:t>
            </a:r>
            <a:r>
              <a:rPr sz="880" b="1">
                <a:solidFill>
                  <a:srgbClr val="0B2E4F"/>
                </a:solidFill>
              </a:rPr>
              <a:t>Compared with port rules.</a:t>
            </a:r>
          </a:p>
          <a:p>
            <a:pPr algn="l">
              <a:spcAft>
                <a:spcPts val="400"/>
              </a:spcAft>
            </a:pPr>
            <a:r>
              <a:rPr sz="880" b="1">
                <a:solidFill>
                  <a:srgbClr val="2B6CB0"/>
                </a:solidFill>
              </a:rPr>
              <a:t>2. Link model: </a:t>
            </a:r>
            <a:r>
              <a:rPr sz="880" b="0">
                <a:solidFill>
                  <a:srgbClr val="333333"/>
                </a:solidFill>
              </a:rPr>
              <a:t>trained offline on lab runs; predicts how a policy change affects call delay, so risky changes are dropped before the live trial. </a:t>
            </a:r>
            <a:r>
              <a:rPr sz="880" b="1">
                <a:solidFill>
                  <a:srgbClr val="0B2E4F"/>
                </a:solidFill>
              </a:rPr>
              <a:t>Measured by bad-delay seconds avoided.</a:t>
            </a:r>
          </a:p>
          <a:p>
            <a:pPr algn="l">
              <a:spcAft>
                <a:spcPts val="400"/>
              </a:spcAft>
            </a:pPr>
            <a:r>
              <a:rPr sz="880" b="1">
                <a:solidFill>
                  <a:srgbClr val="2B6CB0"/>
                </a:solidFill>
              </a:rPr>
              <a:t>3. Auto-protect: </a:t>
            </a:r>
            <a:r>
              <a:rPr sz="880" b="0">
                <a:solidFill>
                  <a:srgbClr val="333333"/>
                </a:solidFill>
              </a:rPr>
              <a:t>a call starting on a busy link is protected automatically, within a daily per-device limit, with undo. </a:t>
            </a:r>
            <a:r>
              <a:rPr sz="880" b="1">
                <a:solidFill>
                  <a:srgbClr val="0B2E4F"/>
                </a:solidFill>
              </a:rPr>
              <a:t>Measured by time to protection.</a:t>
            </a:r>
          </a:p>
          <a:p>
            <a:pPr algn="l">
              <a:spcAft>
                <a:spcPts val="400"/>
              </a:spcAft>
            </a:pPr>
            <a:r>
              <a:rPr sz="880" b="0">
                <a:solidFill>
                  <a:srgbClr val="333333"/>
                </a:solidFill>
              </a:rPr>
              <a:t>Each ML part is tested against the rule-based version. If it does not improve the numbers, we drop it.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09954" y="4461678"/>
            <a:ext cx="4023360" cy="256032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F5B400"/>
                </a:solidFill>
              </a:rPr>
              <a:t>Early test we ran (27 Oct)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09954" y="4717710"/>
            <a:ext cx="4023360" cy="1992186"/>
          </a:xfrm>
          <a:prstGeom prst="rect">
            <a:avLst/>
          </a:prstGeom>
          <a:solidFill>
            <a:srgbClr val="FFFFFF"/>
          </a:solidFill>
          <a:ln w="9525">
            <a:solidFill>
              <a:srgbClr val="0B2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7537386" y="4735998"/>
          <a:ext cx="3968496" cy="1051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7537386" y="5787558"/>
            <a:ext cx="3968496" cy="90405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750" b="1">
                <a:solidFill>
                  <a:srgbClr val="0B2E4F"/>
                </a:solidFill>
              </a:rPr>
              <a:t>Same download speed in both </a:t>
            </a:r>
            <a:r>
              <a:rPr sz="750" b="0">
                <a:solidFill>
                  <a:srgbClr val="333333"/>
                </a:solidFill>
              </a:rPr>
              <a:t>(18.7 of 20 Mbps): the call was protected without starving the download.</a:t>
            </a:r>
          </a:p>
          <a:p>
            <a:pPr algn="l"/>
            <a:r>
              <a:rPr sz="750" b="0">
                <a:solidFill>
                  <a:srgbClr val="333333"/>
                </a:solidFill>
              </a:rPr>
              <a:t>2 Linux namespaces, 20 Mbit link, 4 TCP streams, 50 pings/s, 5 runs each, no WAN delay. Round 2 compares against CAKE, CAKE autorate and cake-autorate in 14 scenarios.</a:t>
            </a:r>
          </a:p>
        </p:txBody>
      </p:sp>
    </p:spTree>
    <p:extLst>
      <p:ext uri="{BB962C8B-B14F-4D97-AF65-F5344CB8AC3E}">
        <p14:creationId xmlns:p14="http://schemas.microsoft.com/office/powerpoint/2010/main" val="70764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Custom Design</vt:lpstr>
      <vt:lpstr>Team Details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MM - Case Study 3 - PulseQoS</dc:title>
  <dc:creator>Manas Girdhar</dc:creator>
  <cp:lastModifiedBy>Meenakshi Satpathy</cp:lastModifiedBy>
  <cp:revision>7</cp:revision>
  <dcterms:created xsi:type="dcterms:W3CDTF">2024-10-25T17:59:13Z</dcterms:created>
  <dcterms:modified xsi:type="dcterms:W3CDTF">2026-09-23T11:32:25Z</dcterms:modified>
  <dc:subject>TELIPORT S4 Round 1 submission</dc:subject>
  <cp:keywords/>
  <dc:description/>
</cp:coreProperties>
</file>