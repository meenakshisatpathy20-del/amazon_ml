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solidFill>
                  <a:srgbClr val="0B2E4F"/>
                </a:solidFill>
              </a:rPr>
              <a:t>95th percentile ping delay during a download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p95 call-probe delay (ms)</c:v>
                </c:pt>
              </c:strCache>
            </c:strRef>
          </c:tx>
          <c:dPt>
            <c:idx val="0"/>
            <c:spPr>
              <a:solidFill>
                <a:srgbClr val="D93A2B"/>
              </a:solidFill>
            </c:spPr>
          </c:dPt>
          <c:dPt>
            <c:idx val="1"/>
            <c:spPr>
              <a:solidFill>
                <a:srgbClr val="1E8E3E"/>
              </a:solidFill>
            </c:spPr>
          </c:dPt>
          <c:cat>
            <c:strRef>
              <c:f>Sheet1!$A$2:$A$3</c:f>
              <c:strCache>
                <c:ptCount val="2"/>
                <c:pt idx="0">
                  <c:v>No QoS (FIFO)</c:v>
                </c:pt>
                <c:pt idx="1">
                  <c:v>Class shaping (HTB)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138.0</c:v>
                </c:pt>
                <c:pt idx="1">
                  <c:v>0.07</c:v>
                </c:pt>
              </c:numCache>
            </c:numRef>
          </c:val>
        </c:ser>
        <c:dLbls>
          <c:numFmt formatCode="#,##0.0#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(about 1 minute): In a home, calls, games, TVs and downloads share one link. The real problem is queueing delay, not bandwidth. We build on CAKE in Linux rather than replacing it. On top of it we add a rate loop that follows the link speed every second, a rule-based policy loop that goes through a safety check and can roll back, and a way for the user to protect a call for a set time. ML is used in three places: the flow classifier, a link model that screens policy changes, and auto-protect for calls. Each one is compared with the rule-based version and dropped if it does not help. Our early test: during a download, ping delay was 138 ms with no QoS and under 0.1 ms with class shaping, with the same download speed. In Round 2 we compare against CAKE and its autorate tools, not only against no QoS.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1371600" y="1917655"/>
            <a:ext cx="9445752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Details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r>
              <a:rPr b="1"/>
              <a:t>Team MM</a:t>
            </a:r>
          </a:p>
          <a:p>
            <a:r>
              <a:t>Manas Girdhar (Team Leader)</a:t>
            </a:r>
          </a:p>
          <a:p>
            <a:r>
              <a:t>Meenakshi Satpathy</a:t>
            </a:r>
          </a:p>
          <a:p>
            <a:r>
              <a:t>Birla Institute of Technology, Mesra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A7B0-D290-F374-CB83-A8971125B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8880" y="73152"/>
            <a:ext cx="7315200" cy="658368"/>
          </a:xfrm>
        </p:spPr>
        <p:txBody>
          <a:bodyPr wrap="square" anchor="ctr" lIns="54864" rIns="54864" tIns="27432" bIns="27432"/>
          <a:lstStyle/>
          <a:p>
            <a:pPr algn="l"/>
            <a:r>
              <a:rPr sz="2000" b="1">
                <a:solidFill>
                  <a:srgbClr val="008CC8"/>
                </a:solidFill>
                <a:latin typeface="Calibri"/>
              </a:rPr>
              <a:t>PulseQoS: </a:t>
            </a:r>
            <a:r>
              <a:rPr sz="2000" b="1">
                <a:solidFill>
                  <a:srgbClr val="0B2E4F"/>
                </a:solidFill>
                <a:latin typeface="Calibri"/>
              </a:rPr>
              <a:t>the call never notices the download</a:t>
            </a:r>
            <a:endParaRPr lang="en-IN"/>
          </a:p>
          <a:p>
            <a:pPr algn="l"/>
            <a:r>
              <a:rPr sz="1150" b="0">
                <a:solidFill>
                  <a:srgbClr val="333333"/>
                </a:solidFill>
                <a:latin typeface="Calibri"/>
              </a:rPr>
              <a:t>An adaptive QoS controller for home broadband, built on Linux tc and CAKE. No payload inspection.</a:t>
            </a:r>
          </a:p>
        </p:txBody>
      </p:sp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786384"/>
            <a:ext cx="69037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008CC8"/>
                </a:solidFill>
                <a:latin typeface="Calibri"/>
              </a:rPr>
              <a:t>System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69848"/>
            <a:ext cx="6903720" cy="566928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69848"/>
            <a:ext cx="804672" cy="56692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91640"/>
            <a:ext cx="6903720" cy="1188720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691640"/>
            <a:ext cx="804672" cy="1188720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ANALYTICS</a:t>
            </a:r>
          </a:p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&amp;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35224"/>
            <a:ext cx="6903720" cy="475488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935224"/>
            <a:ext cx="804672" cy="47548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465576"/>
            <a:ext cx="6903720" cy="896112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465576"/>
            <a:ext cx="804672" cy="896112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EDGE</a:t>
            </a:r>
          </a:p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(router)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416552"/>
            <a:ext cx="6903720" cy="566928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416552"/>
            <a:ext cx="804672" cy="56692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DEVICE &amp;</a:t>
            </a:r>
          </a:p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70432" y="1115568"/>
            <a:ext cx="2788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Focus Mode app / REST API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protect a call for N minutes; auto-protect has undo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50791" y="1115568"/>
            <a:ext cx="303580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Dashboard + “Why” panel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latency, jitter, loss, queue depth, fairness; reason for each 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70432" y="17373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1">
                <a:solidFill>
                  <a:srgbClr val="F5B400"/>
                </a:solidFill>
                <a:latin typeface="Calibri"/>
              </a:rPr>
              <a:t>Rate loop (1 s)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capacity estimator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using one-way delay;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lowers shaper rate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immediately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70048" y="17373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1">
                <a:solidFill>
                  <a:srgbClr val="F5B400"/>
                </a:solidFill>
                <a:latin typeface="Calibri"/>
              </a:rPr>
              <a:t>Policy loop (10-30 s)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rule-based controller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fixed set of allowed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actions, hysteresis,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minimum hold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9663" y="17373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Link model (ML)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predicts call delay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for each candidate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action; filters out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risky 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17373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1">
                <a:solidFill>
                  <a:srgbClr val="0B2E4F"/>
                </a:solidFill>
                <a:latin typeface="Calibri"/>
              </a:rPr>
              <a:t>Safety check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validate, short live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trial, keep or roll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back; watchdog falls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back to plain CAKE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70432" y="2971800"/>
            <a:ext cx="5916168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Flow table (conntrack), telemetry store, versioned policies, audit log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0432" y="3511296"/>
            <a:ext cx="1874519" cy="80467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Flow classifier (ML)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packet sizes and timing only;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unsure flows stay best effort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36391" y="3511296"/>
            <a:ext cx="196596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Flow marking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class stored in conntrack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mark, restored with ctinfo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93792" y="3511296"/>
            <a:ext cx="1892807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Linux tc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CAKE on WAN and IFB;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HTB variant for hard floors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70432" y="4462272"/>
            <a:ext cx="2788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Home devices (emulated)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laptop on a call, console, 3 TVs, a large download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50791" y="4462272"/>
            <a:ext cx="303580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WAN link (emulated)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netem + token bucket, 100 to 20 Mbps, IPv4 and IPv6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2103120" y="4315968"/>
            <a:ext cx="0" cy="146304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44952" y="3913632"/>
            <a:ext cx="91439" cy="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2352" y="3913632"/>
            <a:ext cx="91440" cy="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35624" y="4315968"/>
            <a:ext cx="0" cy="146304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087368" y="2286000"/>
            <a:ext cx="82295" cy="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586984" y="2286000"/>
            <a:ext cx="82296" cy="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31152" y="2834640"/>
            <a:ext cx="0" cy="676656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883664" y="2834640"/>
            <a:ext cx="0" cy="13716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60320" y="1591056"/>
            <a:ext cx="0" cy="146304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74320" y="5047488"/>
            <a:ext cx="690372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8CC8"/>
                </a:solidFill>
                <a:latin typeface="Calibri"/>
              </a:rPr>
              <a:t>Key design decisions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008CC8"/>
                </a:solidFill>
                <a:latin typeface="Calibri"/>
              </a:rPr>
              <a:t>• </a:t>
            </a:r>
            <a:r>
              <a:rPr sz="1000" b="1">
                <a:solidFill>
                  <a:srgbClr val="0B2E4F"/>
                </a:solidFill>
                <a:latin typeface="Calibri"/>
              </a:rPr>
              <a:t>Tins: </a:t>
            </a:r>
            <a:r>
              <a:rPr sz="1000" b="0">
                <a:solidFill>
                  <a:srgbClr val="333333"/>
                </a:solidFill>
                <a:latin typeface="Calibri"/>
              </a:rPr>
              <a:t>call audio and games go to the Voice tin, call video to the Video tin (Voice is capped at 25% in diffserv4)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008CC8"/>
                </a:solidFill>
                <a:latin typeface="Calibri"/>
              </a:rPr>
              <a:t>• </a:t>
            </a:r>
            <a:r>
              <a:rPr sz="1000" b="1">
                <a:solidFill>
                  <a:srgbClr val="0B2E4F"/>
                </a:solidFill>
                <a:latin typeface="Calibri"/>
              </a:rPr>
              <a:t>Trust: </a:t>
            </a:r>
            <a:r>
              <a:rPr sz="1000" b="0">
                <a:solidFill>
                  <a:srgbClr val="333333"/>
                </a:solidFill>
                <a:latin typeface="Calibri"/>
              </a:rPr>
              <a:t>DSCP marks coming from the Internet are cleared, so outside traffic cannot claim priority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008CC8"/>
                </a:solidFill>
                <a:latin typeface="Calibri"/>
              </a:rPr>
              <a:t>• </a:t>
            </a:r>
            <a:r>
              <a:rPr sz="1000" b="1">
                <a:solidFill>
                  <a:srgbClr val="0B2E4F"/>
                </a:solidFill>
                <a:latin typeface="Calibri"/>
              </a:rPr>
              <a:t>Two loops: </a:t>
            </a:r>
            <a:r>
              <a:rPr sz="1000" b="0">
                <a:solidFill>
                  <a:srgbClr val="333333"/>
                </a:solidFill>
                <a:latin typeface="Calibri"/>
              </a:rPr>
              <a:t>a speed drop is handled within a second; policy changes go through the safety check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008CC8"/>
                </a:solidFill>
                <a:latin typeface="Calibri"/>
              </a:rPr>
              <a:t>• </a:t>
            </a:r>
            <a:r>
              <a:rPr sz="1000" b="1">
                <a:solidFill>
                  <a:srgbClr val="0B2E4F"/>
                </a:solidFill>
                <a:latin typeface="Calibri"/>
              </a:rPr>
              <a:t>Privacy: </a:t>
            </a:r>
            <a:r>
              <a:rPr sz="1000" b="0">
                <a:solidFill>
                  <a:srgbClr val="333333"/>
                </a:solidFill>
                <a:latin typeface="Calibri"/>
              </a:rPr>
              <a:t>no payload or domain logging; the intent API is LAN-only and needs a token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20" y="822960"/>
            <a:ext cx="4553712" cy="329184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Where we use ML, and how we check it helps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20" y="1152144"/>
            <a:ext cx="455371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B6CB0"/>
                </a:solidFill>
                <a:latin typeface="Calibri"/>
              </a:rPr>
              <a:t>1. Flow classifier: </a:t>
            </a:r>
            <a:r>
              <a:rPr sz="1050" b="0">
                <a:solidFill>
                  <a:srgbClr val="333333"/>
                </a:solidFill>
                <a:latin typeface="Calibri"/>
              </a:rPr>
              <a:t>LightGBM on flow features with conformal prediction. A flow is prioritised only when the model is confident, which keeps wrong boosts under a target rate (say 1%). </a:t>
            </a:r>
            <a:r>
              <a:rPr sz="1050" b="1">
                <a:solidFill>
                  <a:srgbClr val="0B2E4F"/>
                </a:solidFill>
                <a:latin typeface="Calibri"/>
              </a:rPr>
              <a:t>Compared with port-based rules.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2B6CB0"/>
                </a:solidFill>
                <a:latin typeface="Calibri"/>
              </a:rPr>
              <a:t>2. Link model: </a:t>
            </a:r>
            <a:r>
              <a:rPr sz="1050" b="0">
                <a:solidFill>
                  <a:srgbClr val="333333"/>
                </a:solidFill>
                <a:latin typeface="Calibri"/>
              </a:rPr>
              <a:t>trained offline on lab runs, it predicts how a policy change will affect call delay, so risky changes are dropped before the live trial. </a:t>
            </a:r>
            <a:r>
              <a:rPr sz="1050" b="1">
                <a:solidFill>
                  <a:srgbClr val="0B2E4F"/>
                </a:solidFill>
                <a:latin typeface="Calibri"/>
              </a:rPr>
              <a:t>Measured by seconds of bad call delay avoided.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2B6CB0"/>
                </a:solidFill>
                <a:latin typeface="Calibri"/>
              </a:rPr>
              <a:t>3. Auto-protect: </a:t>
            </a:r>
            <a:r>
              <a:rPr sz="1050" b="0">
                <a:solidFill>
                  <a:srgbClr val="333333"/>
                </a:solidFill>
                <a:latin typeface="Calibri"/>
              </a:rPr>
              <a:t>when a call starts on a busy link it is protected automatically, within a daily per-device limit, and the user can undo it. </a:t>
            </a:r>
            <a:r>
              <a:rPr sz="1050" b="1">
                <a:solidFill>
                  <a:srgbClr val="0B2E4F"/>
                </a:solidFill>
                <a:latin typeface="Calibri"/>
              </a:rPr>
              <a:t>Measured by time from call start to protection.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Calibri"/>
              </a:rPr>
              <a:t>Each ML part is tested against the plain rule-based version. If it does not improve the numbers, we drop it.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60920" y="3913632"/>
            <a:ext cx="4553712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5B400"/>
                </a:solidFill>
                <a:latin typeface="Calibri"/>
              </a:rPr>
              <a:t>Early test we ran (27 Oct)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20" y="4206240"/>
            <a:ext cx="4553712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0B2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406640" y="4224528"/>
          <a:ext cx="4462272" cy="1097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7406640" y="5303520"/>
            <a:ext cx="4462272" cy="102412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0B2E4F"/>
                </a:solidFill>
                <a:latin typeface="Calibri"/>
              </a:rPr>
              <a:t>Download speed was the same in both cases </a:t>
            </a:r>
            <a:r>
              <a:rPr sz="900" b="0">
                <a:solidFill>
                  <a:srgbClr val="333333"/>
                </a:solidFill>
                <a:latin typeface="Calibri"/>
              </a:rPr>
              <a:t>(18.7 of 20 Mbps), so the call was protected without starving the download.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Setup: 2 Linux namespaces, 20 Mbit link, 4 TCP streams, 50 pings/s, 5 runs each. No WAN delay was emulated. In Round 2 we will compare against CAKE, CAKE autorate and cake-autorate across 14 scenarios.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400800"/>
            <a:ext cx="11640312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0B2E4F"/>
                </a:solidFill>
                <a:latin typeface="Calibri"/>
              </a:rPr>
              <a:t>Scope: </a:t>
            </a:r>
            <a:r>
              <a:rPr sz="900" b="0">
                <a:solidFill>
                  <a:srgbClr val="333333"/>
                </a:solidFill>
                <a:latin typeface="Calibri"/>
              </a:rPr>
              <a:t>the prototype runs in emulation. A real router would also need hardware offload handling, enough CPU for gigabit shaping, and Wi-Fi airtime fairness.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MM - Case Study 3 - PulseQoS</dc:title>
  <dc:creator>Manas Girdhar</dc:creator>
  <cp:lastModifiedBy>Meenakshi Satpathy</cp:lastModifiedBy>
  <cp:revision>7</cp:revision>
  <dcterms:created xsi:type="dcterms:W3CDTF">2024-10-25T17:59:13Z</dcterms:created>
  <dcterms:modified xsi:type="dcterms:W3CDTF">2026-09-23T11:32:25Z</dcterms:modified>
  <dc:subject>TELIPORT S4 Round 1 submission</dc:subject>
  <cp:keywords/>
  <dc:description/>
</cp:coreProperties>
</file>