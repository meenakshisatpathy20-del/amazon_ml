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50" b="1">
                <a:solidFill>
                  <a:srgbClr val="0B2E4F"/>
                </a:solidFill>
              </a:rPr>
              <a:t>p95 call-probe delay during a 4-stream download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p95 call-probe delay (ms)</c:v>
                </c:pt>
              </c:strCache>
            </c:strRef>
          </c:tx>
          <c:dPt>
            <c:idx val="0"/>
            <c:spPr>
              <a:solidFill>
                <a:srgbClr val="D93A2B"/>
              </a:solidFill>
            </c:spPr>
          </c:dPt>
          <c:dPt>
            <c:idx val="1"/>
            <c:spPr>
              <a:solidFill>
                <a:srgbClr val="1E8E3E"/>
              </a:solidFill>
            </c:spPr>
          </c:dPt>
          <c:cat>
            <c:strRef>
              <c:f>Sheet1!$A$2:$A$3</c:f>
              <c:strCache>
                <c:ptCount val="2"/>
                <c:pt idx="0">
                  <c:v>FIFO (no QoS)</c:v>
                </c:pt>
                <c:pt idx="1">
                  <c:v>Class shaping (HTB layout)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138.0</c:v>
                </c:pt>
                <c:pt idx="1">
                  <c:v>0.07</c:v>
                </c:pt>
              </c:numCache>
            </c:numRef>
          </c:val>
        </c:ser>
        <c:dLbls>
          <c:numFmt formatCode="#,##0.0#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60-second pitch: Home links carry calls, games, TVs and downloads at once. Big queues, not low bandwidth, ruin calls. PulseQoS sits on proven Linux CAKE and adds four things: it understands traffic from metadata only and admits uncertainty; it follows the real link speed within a second; it takes a temporary user intent with expiry and a fairness budget; and it verifies every policy change, rolling back if the call gets worse. Our pilot already shows the problem and the fix: a download pushed call-probe p95 delay to 138 ms on FIFO and kept it under 0.1 ms with class shaping, with identical download goodput. Round 2 measures PulseQoS against CAKE and CAKE-autorate, not just against no QoS.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1371600" y="1917655"/>
            <a:ext cx="9445752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 – Adaptive QoS Engine (PulseQoS)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Details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r>
              <a:t>Manas Girdhar (Team Leader)</a:t>
            </a:r>
          </a:p>
          <a:p>
            <a:r>
              <a:t>Meenakshi Satpathy</a:t>
            </a:r>
          </a:p>
          <a:p>
            <a:r>
              <a:t>Birla Institute of Technology, Mesra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A7B0-D290-F374-CB83-A8971125B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8880" y="73152"/>
            <a:ext cx="7315200" cy="658368"/>
          </a:xfrm>
        </p:spPr>
        <p:txBody>
          <a:bodyPr wrap="square" anchor="ctr" lIns="54864" rIns="54864" tIns="27432" bIns="27432"/>
          <a:lstStyle/>
          <a:p>
            <a:pPr algn="l"/>
            <a:r>
              <a:rPr sz="2000" b="1">
                <a:solidFill>
                  <a:srgbClr val="008CC8"/>
                </a:solidFill>
                <a:latin typeface="Calibri"/>
              </a:rPr>
              <a:t>PulseQoS: </a:t>
            </a:r>
            <a:r>
              <a:rPr sz="2000" b="1">
                <a:solidFill>
                  <a:srgbClr val="0B2E4F"/>
                </a:solidFill>
                <a:latin typeface="Calibri"/>
              </a:rPr>
              <a:t>the call never notices the download</a:t>
            </a:r>
            <a:endParaRPr lang="en-IN"/>
          </a:p>
          <a:p>
            <a:pPr algn="l"/>
            <a:r>
              <a:rPr sz="1150" b="0">
                <a:solidFill>
                  <a:srgbClr val="333333"/>
                </a:solidFill>
                <a:latin typeface="Calibri"/>
              </a:rPr>
              <a:t>Intent-aware, self-verifying QoS controller for home broadband — payload-blind, built on open Linux tc</a:t>
            </a:r>
          </a:p>
        </p:txBody>
      </p:sp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786384"/>
            <a:ext cx="690372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008CC8"/>
                </a:solidFill>
                <a:latin typeface="Calibri"/>
              </a:rPr>
              <a:t>ARCHITECTURE — one closed loop, two speeds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69848"/>
            <a:ext cx="6903720" cy="566928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69848"/>
            <a:ext cx="804672" cy="56692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6903720" cy="1188720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691640"/>
            <a:ext cx="804672" cy="1188720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ANALYTICS</a:t>
            </a:r>
          </a:p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&amp;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935224"/>
            <a:ext cx="6903720" cy="475488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935224"/>
            <a:ext cx="804672" cy="47548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465576"/>
            <a:ext cx="6903720" cy="896112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465576"/>
            <a:ext cx="804672" cy="896112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EDGE</a:t>
            </a:r>
          </a:p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(router)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416552"/>
            <a:ext cx="6903720" cy="566928"/>
          </a:xfrm>
          <a:prstGeom prst="rect">
            <a:avLst/>
          </a:prstGeom>
          <a:solidFill>
            <a:srgbClr val="F4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416552"/>
            <a:ext cx="804672" cy="56692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DEVICE &amp;</a:t>
            </a:r>
          </a:p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70432" y="1115568"/>
            <a:ext cx="2788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Focus Mode app / REST API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“protect my call for 30 min” • authenticated, rate-limited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50791" y="1115568"/>
            <a:ext cx="303580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Dashboard + “Why” panel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p95 delay, jitter, loss, queue, Jain • audit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70432" y="1737360"/>
            <a:ext cx="1874519" cy="1097280"/>
          </a:xfrm>
          <a:prstGeom prst="roundRect">
            <a:avLst>
              <a:gd name="adj" fmla="val 8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5B400"/>
                </a:solidFill>
                <a:latin typeface="Calibri"/>
              </a:rPr>
              <a:t>FAST LOOP (≤ 1 s)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Capacity estimator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OWD / RTT under load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AIMD shaper rate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(rate cuts skip trial)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36391" y="1737360"/>
            <a:ext cx="1965960" cy="1097280"/>
          </a:xfrm>
          <a:prstGeom prst="roundRect">
            <a:avLst>
              <a:gd name="adj" fmla="val 8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F5B400"/>
                </a:solidFill>
                <a:latin typeface="Calibri"/>
              </a:rPr>
              <a:t>SLOW LOOP (10–30 s)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Policy controller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deterministic rules +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safe action menu,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hysteresis, hold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93792" y="1737360"/>
            <a:ext cx="1892807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Safety gate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validate → bounded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live trial → keep or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roll back whole bundle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+ watchdog → safe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" y="2971800"/>
            <a:ext cx="5916168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Flow table (conntrack) • telemetry store • versioned policy bundles • audit log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70432" y="3511296"/>
            <a:ext cx="1874519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Flow classifier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sizes, timing, direction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calibrated conf. + Unknown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36391" y="3511296"/>
            <a:ext cx="196596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Mark per flow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class → conntrack mark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(user correction wins)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93792" y="3511296"/>
            <a:ext cx="1892807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Linux tc enforcement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CAKE on WAN + IFB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(ctinfo restore) • HTB variant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70432" y="4462272"/>
            <a:ext cx="2788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Home devices (emulated)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laptop call • console • 3 TVs • 15 GB download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50791" y="4462272"/>
            <a:ext cx="3035808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1">
                <a:solidFill>
                  <a:srgbClr val="0B2E4F"/>
                </a:solidFill>
                <a:latin typeface="Calibri"/>
              </a:rPr>
              <a:t>WAN bottleneck (emulated)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Calibri"/>
              </a:rPr>
              <a:t>token bucket + netem • 100 → 20 Mbps • IPv4/IPv6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103120" y="4315968"/>
            <a:ext cx="0" cy="146304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044952" y="3913632"/>
            <a:ext cx="91439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02352" y="3913632"/>
            <a:ext cx="91440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35624" y="4315968"/>
            <a:ext cx="0" cy="146304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114800" y="2834640"/>
            <a:ext cx="0" cy="13716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02352" y="2286000"/>
            <a:ext cx="91440" cy="0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135624" y="2834640"/>
            <a:ext cx="0" cy="676656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560320" y="1591056"/>
            <a:ext cx="0" cy="146304"/>
          </a:xfrm>
          <a:prstGeom prst="line">
            <a:avLst/>
          </a:prstGeom>
          <a:ln w="19050">
            <a:solidFill>
              <a:srgbClr val="0B2E4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4320" y="5047488"/>
            <a:ext cx="690372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08CC8"/>
                </a:solidFill>
                <a:latin typeface="Calibri"/>
              </a:rPr>
              <a:t>DESIGN RULES THAT KEEP IT CORRECT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08CC8"/>
                </a:solidFill>
                <a:latin typeface="Calibri"/>
              </a:rPr>
              <a:t>▸ </a:t>
            </a:r>
            <a:r>
              <a:rPr sz="1050" b="1">
                <a:solidFill>
                  <a:srgbClr val="0B2E4F"/>
                </a:solidFill>
                <a:latin typeface="Calibri"/>
              </a:rPr>
              <a:t>Tins: </a:t>
            </a:r>
            <a:r>
              <a:rPr sz="1050" b="0">
                <a:solidFill>
                  <a:srgbClr val="333333"/>
                </a:solidFill>
                <a:latin typeface="Calibri"/>
              </a:rPr>
              <a:t>call audio + gaming → Voice; call video → Video (RFC 8837 WebRTC marking); bulk → Bulk; Unknown never boosted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08CC8"/>
                </a:solidFill>
                <a:latin typeface="Calibri"/>
              </a:rPr>
              <a:t>▸ </a:t>
            </a:r>
            <a:r>
              <a:rPr sz="1050" b="1">
                <a:solidFill>
                  <a:srgbClr val="0B2E4F"/>
                </a:solidFill>
                <a:latin typeface="Calibri"/>
              </a:rPr>
              <a:t>Trust: </a:t>
            </a:r>
            <a:r>
              <a:rPr sz="1050" b="0">
                <a:solidFill>
                  <a:srgbClr val="333333"/>
                </a:solidFill>
                <a:latin typeface="Calibri"/>
              </a:rPr>
              <a:t>inbound DSCP from the Internet is ignored; download class is restored from our own conntrack mark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08CC8"/>
                </a:solidFill>
                <a:latin typeface="Calibri"/>
              </a:rPr>
              <a:t>▸ </a:t>
            </a:r>
            <a:r>
              <a:rPr sz="1050" b="1">
                <a:solidFill>
                  <a:srgbClr val="0B2E4F"/>
                </a:solidFill>
                <a:latin typeface="Calibri"/>
              </a:rPr>
              <a:t>Two speeds: </a:t>
            </a:r>
            <a:r>
              <a:rPr sz="1050" b="0">
                <a:solidFill>
                  <a:srgbClr val="333333"/>
                </a:solidFill>
                <a:latin typeface="Calibri"/>
              </a:rPr>
              <a:t>capacity cuts act within a second; policy changes wait for the safety gate, so a link drop is never blocked by anti-flap rules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08CC8"/>
                </a:solidFill>
                <a:latin typeface="Calibri"/>
              </a:rPr>
              <a:t>▸ </a:t>
            </a:r>
            <a:r>
              <a:rPr sz="1050" b="1">
                <a:solidFill>
                  <a:srgbClr val="0B2E4F"/>
                </a:solidFill>
                <a:latin typeface="Calibri"/>
              </a:rPr>
              <a:t>Privacy: </a:t>
            </a:r>
            <a:r>
              <a:rPr sz="1050" b="0">
                <a:solidFill>
                  <a:srgbClr val="333333"/>
                </a:solidFill>
                <a:latin typeface="Calibri"/>
              </a:rPr>
              <a:t>metadata only, no payload or domain logging; per-device views only to the account owner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60920" y="822960"/>
            <a:ext cx="4553712" cy="32918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5B400"/>
                </a:solidFill>
                <a:latin typeface="Calibri"/>
              </a:rPr>
              <a:t>PILOT EVIDENCE — measured, not assumed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1152144"/>
            <a:ext cx="4553712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0B2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7406640" y="1188720"/>
          <a:ext cx="4462272" cy="1325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7406640" y="2523744"/>
            <a:ext cx="4462272" cy="10058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1">
                <a:solidFill>
                  <a:srgbClr val="0B2E4F"/>
                </a:solidFill>
                <a:latin typeface="Calibri"/>
              </a:rPr>
              <a:t>Same download goodput in both: </a:t>
            </a:r>
            <a:r>
              <a:rPr sz="950" b="0">
                <a:solidFill>
                  <a:srgbClr val="333333"/>
                </a:solidFill>
                <a:latin typeface="Calibri"/>
              </a:rPr>
              <a:t>18.7 Mbps of 20 — the call is protected without starving bulk.</a:t>
            </a:r>
          </a:p>
          <a:p>
            <a:pPr algn="l"/>
            <a:r>
              <a:rPr sz="950" b="1">
                <a:solidFill>
                  <a:srgbClr val="0B2E4F"/>
                </a:solidFill>
                <a:latin typeface="Calibri"/>
              </a:rPr>
              <a:t>Setup: </a:t>
            </a:r>
            <a:r>
              <a:rPr sz="950" b="0">
                <a:solidFill>
                  <a:srgbClr val="333333"/>
                </a:solidFill>
                <a:latin typeface="Calibri"/>
              </a:rPr>
              <a:t>Linux namespaces, 20 Mbit bottleneck, 50 pkt/s probes, 5 paired runs (medians; FIFO range 128–152 ms). Emulation; no WAN delay or Wi-Fi; ideal classification. Round 2 repeats this with CAKE, netem and all baselines.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60920" y="3657600"/>
            <a:ext cx="4553712" cy="329184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UNDERSTAND → DECIDE → PROTECT → PROVE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3986784"/>
            <a:ext cx="4553712" cy="23591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8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B2E4F"/>
                </a:solidFill>
                <a:latin typeface="Calibri"/>
              </a:rPr>
              <a:t>▸ Understand: </a:t>
            </a:r>
            <a:r>
              <a:rPr sz="1050" b="0">
                <a:solidFill>
                  <a:srgbClr val="333333"/>
                </a:solidFill>
                <a:latin typeface="Calibri"/>
              </a:rPr>
              <a:t>LightGBM on flow metadata, trained on real app captures, split by session; reports confidence, abstains to Unknown; metrics: macro-F1, wrong-boost rate, time-to-classify.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0B2E4F"/>
                </a:solidFill>
                <a:latin typeface="Calibri"/>
              </a:rPr>
              <a:t>▸ Decide: </a:t>
            </a:r>
            <a:r>
              <a:rPr sz="1050" b="0">
                <a:solidFill>
                  <a:srgbClr val="333333"/>
                </a:solidFill>
                <a:latin typeface="Calibri"/>
              </a:rPr>
              <a:t>Focus Mode with auto-expiry, priority ceiling and a daily Fairness Budget; a learned tuner stays only if it beats the rule controller in A/B runs.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0B2E4F"/>
                </a:solidFill>
                <a:latin typeface="Calibri"/>
              </a:rPr>
              <a:t>▸ Protect: </a:t>
            </a:r>
            <a:r>
              <a:rPr sz="1050" b="0">
                <a:solidFill>
                  <a:srgbClr val="333333"/>
                </a:solidFill>
                <a:latin typeface="Calibri"/>
              </a:rPr>
              <a:t>fast-abort on call latency, whole-bundle rollback with read-back check, watchdog → known safe state.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0B2E4F"/>
                </a:solidFill>
                <a:latin typeface="Calibri"/>
              </a:rPr>
              <a:t>▸ Prove: </a:t>
            </a:r>
            <a:r>
              <a:rPr sz="1050" b="0">
                <a:solidFill>
                  <a:srgbClr val="333333"/>
                </a:solidFill>
                <a:latin typeface="Calibri"/>
              </a:rPr>
              <a:t>one command runs 9 scenarios × 6 systems (FIFO, CAKE, CAKE+autorate, rule QoS, ours, ours+ML), 10 runs each: p95/p99 delay, jitter, loss, RPM, Jain, settle time, CPU.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400800"/>
            <a:ext cx="11640312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0B2E4F"/>
                </a:solidFill>
                <a:latin typeface="Calibri"/>
              </a:rPr>
              <a:t>Boundary: </a:t>
            </a:r>
            <a:r>
              <a:rPr sz="900" b="0">
                <a:solidFill>
                  <a:srgbClr val="333333"/>
                </a:solidFill>
                <a:latin typeface="Calibri"/>
              </a:rPr>
              <a:t>reference implementation in emulation, labelled as such. A product also needs router hardware, flow-offload handling, gigabit CPU budget, Wi-Fi airtime fairness and a security review of the intent API.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