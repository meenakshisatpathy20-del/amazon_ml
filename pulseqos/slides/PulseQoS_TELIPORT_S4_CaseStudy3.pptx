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0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213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>
                <a:solidFill>
                  <a:srgbClr val="0B2E4F"/>
                </a:solidFill>
              </a:rPr>
              <a:t>p95 call-probe delay during a 4-stream download (ms)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p95 call-probe delay (ms)</c:v>
                </c:pt>
              </c:strCache>
            </c:strRef>
          </c:tx>
          <c:dPt>
            <c:idx val="0"/>
            <c:spPr>
              <a:solidFill>
                <a:srgbClr val="D93A2B"/>
              </a:solidFill>
            </c:spPr>
          </c:dPt>
          <c:dPt>
            <c:idx val="1"/>
            <c:spPr>
              <a:solidFill>
                <a:srgbClr val="1E8E3E"/>
              </a:solidFill>
            </c:spPr>
          </c:dPt>
          <c:cat>
            <c:strRef>
              <c:f>Sheet1!$A$2:$A$3</c:f>
              <c:strCache>
                <c:ptCount val="2"/>
                <c:pt idx="0">
                  <c:v>FIFO (no QoS)</c:v>
                </c:pt>
                <c:pt idx="1">
                  <c:v>Class shaping (HTB)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138.0</c:v>
                </c:pt>
                <c:pt idx="1">
                  <c:v>0.07</c:v>
                </c:pt>
              </c:numCache>
            </c:numRef>
          </c:val>
        </c:ser>
        <c:dLbls>
          <c:numFmt formatCode="#,##0.0#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4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60-second pitch: Home links carry calls, games, TVs and downloads at once; big queues, not low bandwidth, ruin calls. PulseQoS runs on proven Linux CAKE with a fast loop that follows the real link speed within a second, and a slow, safety-gated loop for policy. Our AI layer is what nobody else has, and each part must beat a rule-based twin: a conformal classifier that only boosts traffic when it is certain, so wrong boosts stay under a chosen rate; an Experience Twin, a learned model of the home link that predicts the effect of every change and rejects harmful ones before users feel them; and Zero-click Focus, which protects a call the moment it starts, with a fairness budget and undo. Our pilot already shows the problem and the fix: a download pushed call delay to 138 ms on FIFO; class shaping kept it under 0.1 ms with the same download speed. In Round 2 we measure against CAKE and its autorate, not just against no QoS.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930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28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510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1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880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431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744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1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28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866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354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58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634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808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583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971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8276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187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313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2603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7620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454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572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006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chart" Target="../charts/char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9E0110-3D53-56A3-B428-F22C9DFF8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C273218-B2DB-AB44-5DFE-A9CB98F2A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0"/>
            <a:ext cx="12191980" cy="6856718"/>
          </a:xfrm>
          <a:prstGeom prst="rect">
            <a:avLst/>
          </a:prstGeom>
        </p:spPr>
      </p:pic>
      <p:pic>
        <p:nvPicPr>
          <p:cNvPr id="14" name="Content Placeholder 6">
            <a:extLst>
              <a:ext uri="{FF2B5EF4-FFF2-40B4-BE49-F238E27FC236}">
                <a16:creationId xmlns:a16="http://schemas.microsoft.com/office/drawing/2014/main" id="{DAC1E459-A0ED-D730-5E34-2662D85A74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46" b="34336"/>
          <a:stretch>
            <a:fillRect/>
          </a:stretch>
        </p:blipFill>
        <p:spPr>
          <a:xfrm>
            <a:off x="4504438" y="723899"/>
            <a:ext cx="3183124" cy="1028701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51E1DA9C-07E8-A7EE-F0F0-74A842D8366D}"/>
              </a:ext>
            </a:extLst>
          </p:cNvPr>
          <p:cNvSpPr txBox="1">
            <a:spLocks/>
          </p:cNvSpPr>
          <p:nvPr/>
        </p:nvSpPr>
        <p:spPr>
          <a:xfrm>
            <a:off x="1371600" y="1917655"/>
            <a:ext cx="9445752" cy="6060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Study No. 3 – Adaptive QoS Engine (PulseQoS)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47F9FFC-5CA4-1C83-5E38-8DBBC6652E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0112" y="2912065"/>
            <a:ext cx="6231775" cy="760059"/>
          </a:xfrm>
        </p:spPr>
        <p:txBody>
          <a:bodyPr>
            <a:noAutofit/>
          </a:bodyPr>
          <a:lstStyle/>
          <a:p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Team Details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BC4B1A3C-0B9F-3BDB-8C06-470AADE518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1627" y="3652835"/>
            <a:ext cx="6231775" cy="1128427"/>
          </a:xfrm>
        </p:spPr>
        <p:txBody>
          <a:bodyPr/>
          <a:lstStyle/>
          <a:p>
            <a:r>
              <a:t>Manas Girdhar (Team Leader)</a:t>
            </a:r>
          </a:p>
          <a:p>
            <a:r>
              <a:t>Meenakshi Satpathy</a:t>
            </a:r>
          </a:p>
          <a:p>
            <a:r>
              <a:t>Birla Institute of Technology, Mesra</a:t>
            </a:r>
          </a:p>
        </p:txBody>
      </p:sp>
    </p:spTree>
    <p:extLst>
      <p:ext uri="{BB962C8B-B14F-4D97-AF65-F5344CB8AC3E}">
        <p14:creationId xmlns:p14="http://schemas.microsoft.com/office/powerpoint/2010/main" val="4002182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EA7B0-D290-F374-CB83-A8971125B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8880" y="73152"/>
            <a:ext cx="7315200" cy="658368"/>
          </a:xfrm>
        </p:spPr>
        <p:txBody>
          <a:bodyPr wrap="square" anchor="ctr" lIns="54864" rIns="54864" tIns="27432" bIns="27432"/>
          <a:lstStyle/>
          <a:p>
            <a:pPr algn="l"/>
            <a:r>
              <a:rPr sz="2000" b="1">
                <a:solidFill>
                  <a:srgbClr val="008CC8"/>
                </a:solidFill>
                <a:latin typeface="Calibri"/>
              </a:rPr>
              <a:t>PulseQoS: </a:t>
            </a:r>
            <a:r>
              <a:rPr sz="2000" b="1">
                <a:solidFill>
                  <a:srgbClr val="0B2E4F"/>
                </a:solidFill>
                <a:latin typeface="Calibri"/>
              </a:rPr>
              <a:t>the call never notices the download</a:t>
            </a:r>
            <a:endParaRPr lang="en-IN"/>
          </a:p>
          <a:p>
            <a:pPr algn="l"/>
            <a:r>
              <a:rPr sz="1150" b="0">
                <a:solidFill>
                  <a:srgbClr val="333333"/>
                </a:solidFill>
                <a:latin typeface="Calibri"/>
              </a:rPr>
              <a:t>Intent-aware, self-verifying QoS controller for home broadband — payload-blind, built on open Linux tc</a:t>
            </a:r>
          </a:p>
        </p:txBody>
      </p:sp>
      <p:pic>
        <p:nvPicPr>
          <p:cNvPr id="5" name="Picture 2" descr="od-banner">
            <a:extLst>
              <a:ext uri="{FF2B5EF4-FFF2-40B4-BE49-F238E27FC236}">
                <a16:creationId xmlns:a16="http://schemas.microsoft.com/office/drawing/2014/main" id="{F4826D9E-742D-0A39-8864-4C7889B0D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1341" y="89039"/>
            <a:ext cx="803547" cy="567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7886EE-DB1A-217A-4691-1FAE55869F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46" b="34336"/>
          <a:stretch>
            <a:fillRect/>
          </a:stretch>
        </p:blipFill>
        <p:spPr>
          <a:xfrm>
            <a:off x="0" y="14083"/>
            <a:ext cx="2361332" cy="763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786384"/>
            <a:ext cx="69037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050" b="1">
                <a:solidFill>
                  <a:srgbClr val="008CC8"/>
                </a:solidFill>
                <a:latin typeface="Calibri"/>
              </a:rPr>
              <a:t>ARCHITECTURE — one closed loop, two speeds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69848"/>
            <a:ext cx="6903720" cy="566928"/>
          </a:xfrm>
          <a:prstGeom prst="rect">
            <a:avLst/>
          </a:prstGeom>
          <a:solidFill>
            <a:srgbClr val="F4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69848"/>
            <a:ext cx="804672" cy="566928"/>
          </a:xfrm>
          <a:prstGeom prst="rect">
            <a:avLst/>
          </a:prstGeom>
          <a:solidFill>
            <a:srgbClr val="008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91640"/>
            <a:ext cx="6903720" cy="1188720"/>
          </a:xfrm>
          <a:prstGeom prst="rect">
            <a:avLst/>
          </a:prstGeom>
          <a:solidFill>
            <a:srgbClr val="F4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691640"/>
            <a:ext cx="804672" cy="1188720"/>
          </a:xfrm>
          <a:prstGeom prst="rect">
            <a:avLst/>
          </a:prstGeom>
          <a:solidFill>
            <a:srgbClr val="008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ANALYTICS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&amp;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935224"/>
            <a:ext cx="6903720" cy="475488"/>
          </a:xfrm>
          <a:prstGeom prst="rect">
            <a:avLst/>
          </a:prstGeom>
          <a:solidFill>
            <a:srgbClr val="F4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935224"/>
            <a:ext cx="804672" cy="475488"/>
          </a:xfrm>
          <a:prstGeom prst="rect">
            <a:avLst/>
          </a:prstGeom>
          <a:solidFill>
            <a:srgbClr val="008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465576"/>
            <a:ext cx="6903720" cy="896112"/>
          </a:xfrm>
          <a:prstGeom prst="rect">
            <a:avLst/>
          </a:prstGeom>
          <a:solidFill>
            <a:srgbClr val="F4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465576"/>
            <a:ext cx="804672" cy="896112"/>
          </a:xfrm>
          <a:prstGeom prst="rect">
            <a:avLst/>
          </a:prstGeom>
          <a:solidFill>
            <a:srgbClr val="008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EDGE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(router)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416552"/>
            <a:ext cx="6903720" cy="566928"/>
          </a:xfrm>
          <a:prstGeom prst="rect">
            <a:avLst/>
          </a:prstGeom>
          <a:solidFill>
            <a:srgbClr val="F4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416552"/>
            <a:ext cx="804672" cy="566928"/>
          </a:xfrm>
          <a:prstGeom prst="rect">
            <a:avLst/>
          </a:prstGeom>
          <a:solidFill>
            <a:srgbClr val="008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DEVICE &amp;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NETWORK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70432" y="1115568"/>
            <a:ext cx="278892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8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>
                <a:solidFill>
                  <a:srgbClr val="0B2E4F"/>
                </a:solidFill>
                <a:latin typeface="Calibri"/>
              </a:rPr>
              <a:t>Focus Mode app / REST API</a:t>
            </a:r>
          </a:p>
          <a:p>
            <a:pPr algn="ctr"/>
            <a:r>
              <a:rPr sz="850" b="0">
                <a:solidFill>
                  <a:srgbClr val="333333"/>
                </a:solidFill>
                <a:latin typeface="Calibri"/>
              </a:rPr>
              <a:t>manual intent or Zero-click auto-protect • 1-tap undo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50791" y="1115568"/>
            <a:ext cx="3035808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8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>
                <a:solidFill>
                  <a:srgbClr val="0B2E4F"/>
                </a:solidFill>
                <a:latin typeface="Calibri"/>
              </a:rPr>
              <a:t>Dashboard + “Why” panel</a:t>
            </a:r>
          </a:p>
          <a:p>
            <a:pPr algn="ctr"/>
            <a:r>
              <a:rPr sz="850" b="0">
                <a:solidFill>
                  <a:srgbClr val="333333"/>
                </a:solidFill>
                <a:latin typeface="Calibri"/>
              </a:rPr>
              <a:t>p95, jitter, loss, queue, Jain, RPM • Twin prediction vs real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70432" y="1737360"/>
            <a:ext cx="1417320" cy="1097280"/>
          </a:xfrm>
          <a:prstGeom prst="roundRect">
            <a:avLst>
              <a:gd name="adj" fmla="val 8000"/>
            </a:avLst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F5B400"/>
                </a:solidFill>
                <a:latin typeface="Calibri"/>
              </a:rPr>
              <a:t>FAST LOOP ≤ 1 s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capacity estimator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one-way delay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rate cuts act at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once, skip trial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70048" y="1737360"/>
            <a:ext cx="1417320" cy="1097280"/>
          </a:xfrm>
          <a:prstGeom prst="roundRect">
            <a:avLst>
              <a:gd name="adj" fmla="val 8000"/>
            </a:avLst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F5B400"/>
                </a:solidFill>
                <a:latin typeface="Calibri"/>
              </a:rPr>
              <a:t>SLOW LOOP 10–30 s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policy controller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safe action menu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hysteresis +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hold 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9663" y="1737360"/>
            <a:ext cx="1417320" cy="1097280"/>
          </a:xfrm>
          <a:prstGeom prst="roundRect">
            <a:avLst>
              <a:gd name="adj" fmla="val 8000"/>
            </a:avLst>
          </a:prstGeom>
          <a:solidFill>
            <a:srgbClr val="7A3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AI  Experience Twin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predicts next-10 s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call delay for each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action; drops unsafe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ones before users feel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1737360"/>
            <a:ext cx="14173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8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0B2E4F"/>
                </a:solidFill>
                <a:latin typeface="Calibri"/>
              </a:rPr>
              <a:t>Safety gate</a:t>
            </a:r>
          </a:p>
          <a:p>
            <a:pPr algn="ctr"/>
            <a:r>
              <a:rPr sz="800" b="0">
                <a:solidFill>
                  <a:srgbClr val="333333"/>
                </a:solidFill>
                <a:latin typeface="Calibri"/>
              </a:rPr>
              <a:t>validate → live</a:t>
            </a:r>
          </a:p>
          <a:p>
            <a:pPr algn="ctr"/>
            <a:r>
              <a:rPr sz="800" b="0">
                <a:solidFill>
                  <a:srgbClr val="333333"/>
                </a:solidFill>
                <a:latin typeface="Calibri"/>
              </a:rPr>
              <a:t>trial → keep or</a:t>
            </a:r>
          </a:p>
          <a:p>
            <a:pPr algn="ctr"/>
            <a:r>
              <a:rPr sz="800" b="0">
                <a:solidFill>
                  <a:srgbClr val="333333"/>
                </a:solidFill>
                <a:latin typeface="Calibri"/>
              </a:rPr>
              <a:t>roll back • watchdog</a:t>
            </a:r>
          </a:p>
          <a:p>
            <a:pPr algn="ctr"/>
            <a:r>
              <a:rPr sz="800" b="0">
                <a:solidFill>
                  <a:srgbClr val="333333"/>
                </a:solidFill>
                <a:latin typeface="Calibri"/>
              </a:rPr>
              <a:t>→ safe state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70432" y="2971800"/>
            <a:ext cx="5916168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8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>
                <a:solidFill>
                  <a:srgbClr val="0B2E4F"/>
                </a:solidFill>
                <a:latin typeface="Calibri"/>
              </a:rPr>
              <a:t>Flow table (conntrack) • telemetry • versioned policy bundles • audit log • Twin training set</a:t>
            </a:r>
          </a:p>
          <a:p>
            <a:pPr algn="ctr"/>
            <a:r>
              <a:rPr sz="850" b="0">
                <a:solidFill>
                  <a:srgbClr val="333333"/>
                </a:solidFill>
                <a:latin typeface="Calibri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70432" y="3511296"/>
            <a:ext cx="1874519" cy="804672"/>
          </a:xfrm>
          <a:prstGeom prst="roundRect">
            <a:avLst>
              <a:gd name="adj" fmla="val 8000"/>
            </a:avLst>
          </a:prstGeom>
          <a:solidFill>
            <a:srgbClr val="7A3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AI  Conformal classifier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Calibri"/>
              </a:rPr>
              <a:t>metadata only • boosts only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Calibri"/>
              </a:rPr>
              <a:t>when certain, else Unknown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36391" y="3511296"/>
            <a:ext cx="196596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8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>
                <a:solidFill>
                  <a:srgbClr val="0B2E4F"/>
                </a:solidFill>
                <a:latin typeface="Calibri"/>
              </a:rPr>
              <a:t>One mark per flow</a:t>
            </a:r>
          </a:p>
          <a:p>
            <a:pPr algn="ctr"/>
            <a:r>
              <a:rPr sz="850" b="0">
                <a:solidFill>
                  <a:srgbClr val="333333"/>
                </a:solidFill>
                <a:latin typeface="Calibri"/>
              </a:rPr>
              <a:t>class → conntrack mark</a:t>
            </a:r>
          </a:p>
          <a:p>
            <a:pPr algn="ctr"/>
            <a:r>
              <a:rPr sz="850" b="0">
                <a:solidFill>
                  <a:srgbClr val="333333"/>
                </a:solidFill>
                <a:latin typeface="Calibri"/>
              </a:rPr>
              <a:t>restored both ways (ctinfo)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93792" y="3511296"/>
            <a:ext cx="1892807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8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>
                <a:solidFill>
                  <a:srgbClr val="0B2E4F"/>
                </a:solidFill>
                <a:latin typeface="Calibri"/>
              </a:rPr>
              <a:t>Linux tc enforcement</a:t>
            </a:r>
          </a:p>
          <a:p>
            <a:pPr algn="ctr"/>
            <a:r>
              <a:rPr sz="850" b="0">
                <a:solidFill>
                  <a:srgbClr val="333333"/>
                </a:solidFill>
                <a:latin typeface="Calibri"/>
              </a:rPr>
              <a:t>CAKE on WAN + IFB</a:t>
            </a:r>
          </a:p>
          <a:p>
            <a:pPr algn="ctr"/>
            <a:r>
              <a:rPr sz="850" b="0">
                <a:solidFill>
                  <a:srgbClr val="333333"/>
                </a:solidFill>
                <a:latin typeface="Calibri"/>
              </a:rPr>
              <a:t>HTB variant for floors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70432" y="4462272"/>
            <a:ext cx="278892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8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>
                <a:solidFill>
                  <a:srgbClr val="0B2E4F"/>
                </a:solidFill>
                <a:latin typeface="Calibri"/>
              </a:rPr>
              <a:t>Home devices (emulated)</a:t>
            </a:r>
          </a:p>
          <a:p>
            <a:pPr algn="ctr"/>
            <a:r>
              <a:rPr sz="850" b="0">
                <a:solidFill>
                  <a:srgbClr val="333333"/>
                </a:solidFill>
                <a:latin typeface="Calibri"/>
              </a:rPr>
              <a:t>laptop calls • console • 3 TVs • 15 GB download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50791" y="4462272"/>
            <a:ext cx="3035808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8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>
                <a:solidFill>
                  <a:srgbClr val="0B2E4F"/>
                </a:solidFill>
                <a:latin typeface="Calibri"/>
              </a:rPr>
              <a:t>WAN bottleneck (emulated)</a:t>
            </a:r>
          </a:p>
          <a:p>
            <a:pPr algn="ctr"/>
            <a:r>
              <a:rPr sz="850" b="0">
                <a:solidFill>
                  <a:srgbClr val="333333"/>
                </a:solidFill>
                <a:latin typeface="Calibri"/>
              </a:rPr>
              <a:t>token bucket + netem • 100 → 20 Mbps • IPv4/IPv6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2103120" y="4315968"/>
            <a:ext cx="0" cy="146304"/>
          </a:xfrm>
          <a:prstGeom prst="line">
            <a:avLst/>
          </a:prstGeom>
          <a:ln w="19050">
            <a:solidFill>
              <a:srgbClr val="0B2E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044952" y="3913632"/>
            <a:ext cx="91439" cy="0"/>
          </a:xfrm>
          <a:prstGeom prst="line">
            <a:avLst/>
          </a:prstGeom>
          <a:ln w="19050">
            <a:solidFill>
              <a:srgbClr val="0B2E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102352" y="3913632"/>
            <a:ext cx="91440" cy="0"/>
          </a:xfrm>
          <a:prstGeom prst="line">
            <a:avLst/>
          </a:prstGeom>
          <a:ln w="19050">
            <a:solidFill>
              <a:srgbClr val="0B2E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135624" y="4315968"/>
            <a:ext cx="0" cy="146304"/>
          </a:xfrm>
          <a:prstGeom prst="line">
            <a:avLst/>
          </a:prstGeom>
          <a:ln w="19050">
            <a:solidFill>
              <a:srgbClr val="0B2E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087368" y="2286000"/>
            <a:ext cx="82295" cy="0"/>
          </a:xfrm>
          <a:prstGeom prst="line">
            <a:avLst/>
          </a:prstGeom>
          <a:ln w="19050">
            <a:solidFill>
              <a:srgbClr val="0B2E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586984" y="2286000"/>
            <a:ext cx="82296" cy="0"/>
          </a:xfrm>
          <a:prstGeom prst="line">
            <a:avLst/>
          </a:prstGeom>
          <a:ln w="19050">
            <a:solidFill>
              <a:srgbClr val="0B2E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931152" y="2834640"/>
            <a:ext cx="0" cy="676656"/>
          </a:xfrm>
          <a:prstGeom prst="line">
            <a:avLst/>
          </a:prstGeom>
          <a:ln w="19050">
            <a:solidFill>
              <a:srgbClr val="0B2E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883664" y="2834640"/>
            <a:ext cx="0" cy="137160"/>
          </a:xfrm>
          <a:prstGeom prst="line">
            <a:avLst/>
          </a:prstGeom>
          <a:ln w="19050">
            <a:solidFill>
              <a:srgbClr val="0B2E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560320" y="1591056"/>
            <a:ext cx="0" cy="146304"/>
          </a:xfrm>
          <a:prstGeom prst="line">
            <a:avLst/>
          </a:prstGeom>
          <a:ln w="19050">
            <a:solidFill>
              <a:srgbClr val="0B2E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74320" y="5047488"/>
            <a:ext cx="69037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8CC8"/>
                </a:solidFill>
                <a:latin typeface="Calibri"/>
              </a:rPr>
              <a:t>DESIGN RULES THAT KEEP IT CORRECT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008CC8"/>
                </a:solidFill>
                <a:latin typeface="Calibri"/>
              </a:rPr>
              <a:t>▸ </a:t>
            </a:r>
            <a:r>
              <a:rPr sz="1000" b="1">
                <a:solidFill>
                  <a:srgbClr val="0B2E4F"/>
                </a:solidFill>
                <a:latin typeface="Calibri"/>
              </a:rPr>
              <a:t>Tins: </a:t>
            </a:r>
            <a:r>
              <a:rPr sz="1000" b="0">
                <a:solidFill>
                  <a:srgbClr val="333333"/>
                </a:solidFill>
                <a:latin typeface="Calibri"/>
              </a:rPr>
              <a:t>call audio + gaming → Voice; call video → Video (Voice tin is only 25%; RFC 8837); Unknown never boosted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008CC8"/>
                </a:solidFill>
                <a:latin typeface="Calibri"/>
              </a:rPr>
              <a:t>▸ </a:t>
            </a:r>
            <a:r>
              <a:rPr sz="1000" b="1">
                <a:solidFill>
                  <a:srgbClr val="0B2E4F"/>
                </a:solidFill>
                <a:latin typeface="Calibri"/>
              </a:rPr>
              <a:t>Trust: </a:t>
            </a:r>
            <a:r>
              <a:rPr sz="1000" b="0">
                <a:solidFill>
                  <a:srgbClr val="333333"/>
                </a:solidFill>
                <a:latin typeface="Calibri"/>
              </a:rPr>
              <a:t>Internet DSCP is cleared on arrival; only our own conntrack mark sets priority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008CC8"/>
                </a:solidFill>
                <a:latin typeface="Calibri"/>
              </a:rPr>
              <a:t>▸ </a:t>
            </a:r>
            <a:r>
              <a:rPr sz="1000" b="1">
                <a:solidFill>
                  <a:srgbClr val="0B2E4F"/>
                </a:solidFill>
                <a:latin typeface="Calibri"/>
              </a:rPr>
              <a:t>Link realism: </a:t>
            </a:r>
            <a:r>
              <a:rPr sz="1000" b="0">
                <a:solidFill>
                  <a:srgbClr val="333333"/>
                </a:solidFill>
                <a:latin typeface="Calibri"/>
              </a:rPr>
              <a:t>overhead compensation, upload ACK filter, per-direction one-way delay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008CC8"/>
                </a:solidFill>
                <a:latin typeface="Calibri"/>
              </a:rPr>
              <a:t>▸ </a:t>
            </a:r>
            <a:r>
              <a:rPr sz="1000" b="1">
                <a:solidFill>
                  <a:srgbClr val="0B2E4F"/>
                </a:solidFill>
                <a:latin typeface="Calibri"/>
              </a:rPr>
              <a:t>Privacy &amp; abuse: </a:t>
            </a:r>
            <a:r>
              <a:rPr sz="1000" b="0">
                <a:solidFill>
                  <a:srgbClr val="333333"/>
                </a:solidFill>
                <a:latin typeface="Calibri"/>
              </a:rPr>
              <a:t>no payload or domain logging; LAN-only authenticated intent API with budgets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60920" y="822960"/>
            <a:ext cx="4553712" cy="329184"/>
          </a:xfrm>
          <a:prstGeom prst="rect">
            <a:avLst/>
          </a:prstGeom>
          <a:solidFill>
            <a:srgbClr val="7A3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THE AI ONLY PULSEQOS HAS — each must beat a rule-based twin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60920" y="1152144"/>
            <a:ext cx="4553712" cy="2670048"/>
          </a:xfrm>
          <a:prstGeom prst="rect">
            <a:avLst/>
          </a:prstGeom>
          <a:solidFill>
            <a:srgbClr val="FFFFFF"/>
          </a:solidFill>
          <a:ln w="12700">
            <a:solidFill>
              <a:srgbClr val="7A3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7A3FC9"/>
                </a:solidFill>
                <a:latin typeface="Calibri"/>
              </a:rPr>
              <a:t>1  Conformal classifier. </a:t>
            </a:r>
            <a:r>
              <a:rPr sz="1050" b="0">
                <a:solidFill>
                  <a:srgbClr val="333333"/>
                </a:solidFill>
                <a:latin typeface="Calibri"/>
              </a:rPr>
              <a:t>Boosts a flow only when its prediction set is a single call/game class, so wrong boosts stay ≤ a chosen rate (e.g. 1%) by construction on calibration-like traffic. </a:t>
            </a:r>
            <a:r>
              <a:rPr sz="1050" b="1">
                <a:solidFill>
                  <a:srgbClr val="0B2E4F"/>
                </a:solidFill>
                <a:latin typeface="Calibri"/>
              </a:rPr>
              <a:t>vs port rules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7A3FC9"/>
                </a:solidFill>
                <a:latin typeface="Calibri"/>
              </a:rPr>
              <a:t>2  Experience Twin. </a:t>
            </a:r>
            <a:r>
              <a:rPr sz="1050" b="0">
                <a:solidFill>
                  <a:srgbClr val="333333"/>
                </a:solidFill>
                <a:latin typeface="Calibri"/>
              </a:rPr>
              <a:t>Learned model of the home link (trained offline in the lab, never by exploring on users) predicts each change’s effect and rejects harmful ones before they go live. </a:t>
            </a:r>
            <a:r>
              <a:rPr sz="1050" b="1">
                <a:solidFill>
                  <a:srgbClr val="0B2E4F"/>
                </a:solidFill>
                <a:latin typeface="Calibri"/>
              </a:rPr>
              <a:t>metric: harm-seconds avoided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7A3FC9"/>
                </a:solidFill>
                <a:latin typeface="Calibri"/>
              </a:rPr>
              <a:t>3  Zero-click Focus. </a:t>
            </a:r>
            <a:r>
              <a:rPr sz="1050" b="0">
                <a:solidFill>
                  <a:srgbClr val="333333"/>
                </a:solidFill>
                <a:latin typeface="Calibri"/>
              </a:rPr>
              <a:t>Detects a call starting on a busy link and protects it within seconds, charged to a Fairness Budget, with undo. </a:t>
            </a:r>
            <a:r>
              <a:rPr sz="1050" b="1">
                <a:solidFill>
                  <a:srgbClr val="0B2E4F"/>
                </a:solidFill>
                <a:latin typeface="Calibri"/>
              </a:rPr>
              <a:t>metric: time-to-protection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0B2E4F"/>
                </a:solidFill>
                <a:latin typeface="Calibri"/>
              </a:rPr>
              <a:t>No chatbot: </a:t>
            </a:r>
            <a:r>
              <a:rPr sz="1050" b="0">
                <a:solidFill>
                  <a:srgbClr val="333333"/>
                </a:solidFill>
                <a:latin typeface="Calibri"/>
              </a:rPr>
              <a:t>the case asks AI to improve a measurable outcome, not add a chat interface. An AI part that loses its A/B test is switched off.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60920" y="3913632"/>
            <a:ext cx="4553712" cy="29260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5B400"/>
                </a:solidFill>
                <a:latin typeface="Calibri"/>
              </a:rPr>
              <a:t>PILOT EVIDENCE — measured 27 Oct, not assumed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60920" y="4206240"/>
            <a:ext cx="4553712" cy="2139696"/>
          </a:xfrm>
          <a:prstGeom prst="rect">
            <a:avLst/>
          </a:prstGeom>
          <a:solidFill>
            <a:srgbClr val="FFFFFF"/>
          </a:solidFill>
          <a:ln w="12700">
            <a:solidFill>
              <a:srgbClr val="0B2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7406640" y="4224528"/>
          <a:ext cx="4462272" cy="10972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7406640" y="5303520"/>
            <a:ext cx="4462272" cy="10241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900" b="1">
                <a:solidFill>
                  <a:srgbClr val="0B2E4F"/>
                </a:solidFill>
                <a:latin typeface="Calibri"/>
              </a:rPr>
              <a:t>Download goodput identical: </a:t>
            </a:r>
            <a:r>
              <a:rPr sz="900" b="0">
                <a:solidFill>
                  <a:srgbClr val="333333"/>
                </a:solidFill>
                <a:latin typeface="Calibri"/>
              </a:rPr>
              <a:t>18.7 of 20 Mbps — call protected, bulk not starved.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5 paired runs, Linux namespaces, 20 Mbit link; emulation without WAN delay, ideal classification. Round 2: CAKE, netem, 8 systems × 14 scenarios × 10 runs, incl. CAKE’s own autorate.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6400800"/>
            <a:ext cx="11640312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900" b="1">
                <a:solidFill>
                  <a:srgbClr val="0B2E4F"/>
                </a:solidFill>
                <a:latin typeface="Calibri"/>
              </a:rPr>
              <a:t>Boundary: </a:t>
            </a:r>
            <a:r>
              <a:rPr sz="900" b="0">
                <a:solidFill>
                  <a:srgbClr val="333333"/>
                </a:solidFill>
                <a:latin typeface="Calibri"/>
              </a:rPr>
              <a:t>reference implementation in emulation, labelled as such. A product also needs router hardware, flow-offload handling, gigabit CPU budget, Wi-Fi airtime fairness and certification.</a:t>
            </a:r>
          </a:p>
        </p:txBody>
      </p:sp>
    </p:spTree>
    <p:extLst>
      <p:ext uri="{BB962C8B-B14F-4D97-AF65-F5344CB8AC3E}">
        <p14:creationId xmlns:p14="http://schemas.microsoft.com/office/powerpoint/2010/main" val="70764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6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Custom Design</vt:lpstr>
      <vt:lpstr>Team Details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Aaquib Jawaid</dc:creator>
  <cp:lastModifiedBy>Fatima Ameer</cp:lastModifiedBy>
  <cp:revision>7</cp:revision>
  <dcterms:created xsi:type="dcterms:W3CDTF">2024-10-25T17:59:13Z</dcterms:created>
  <dcterms:modified xsi:type="dcterms:W3CDTF">2026-09-23T11:32:25Z</dcterms:modified>
</cp:coreProperties>
</file>